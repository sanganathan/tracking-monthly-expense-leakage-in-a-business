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188720" cy="64008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23774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4300" b="1">
                <a:solidFill>
                  <a:srgbClr val="FFFFFF"/>
                </a:solidFill>
                <a:latin typeface="Aptos"/>
              </a:defRPr>
            </a:pPr>
            <a:r>
              <a:t>Tracking Monthly</a:t>
            </a:r>
          </a:p>
          <a:p>
            <a:pPr algn="l">
              <a:defRPr sz="4300" b="1">
                <a:solidFill>
                  <a:srgbClr val="FFFFFF"/>
                </a:solidFill>
                <a:latin typeface="Aptos"/>
              </a:defRPr>
            </a:pPr>
            <a:r>
              <a:t>Expense Leakage</a:t>
            </a:r>
          </a:p>
          <a:p>
            <a:pPr algn="l">
              <a:defRPr sz="4300" b="1">
                <a:solidFill>
                  <a:srgbClr val="FFFFFF"/>
                </a:solidFill>
                <a:latin typeface="Aptos"/>
              </a:defRPr>
            </a:pPr>
            <a:r>
              <a:t>in a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38" y="5919445"/>
            <a:ext cx="9144000" cy="26776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500" b="0">
                <a:solidFill>
                  <a:srgbClr val="A0ACC3"/>
                </a:solidFill>
                <a:latin typeface="Aptos"/>
              </a:defRPr>
            </a:pPr>
            <a:r>
              <a:rPr lang="en-IN" dirty="0" err="1"/>
              <a:t>P.Sanganathan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1207" y="758952"/>
            <a:ext cx="11064240" cy="7132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54480"/>
            <a:ext cx="960120" cy="50292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731520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000" b="1">
                <a:solidFill>
                  <a:srgbClr val="A0ACC3"/>
                </a:solidFill>
                <a:latin typeface="Aptos"/>
              </a:defRPr>
            </a:pPr>
            <a:r>
              <a:t>02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5349240" cy="1600200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2075688"/>
            <a:ext cx="54864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600" b="1">
                <a:solidFill>
                  <a:srgbClr val="8464F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048255"/>
            <a:ext cx="41605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Budget overruns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496312"/>
            <a:ext cx="4069080" cy="75895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500" b="0">
                <a:solidFill>
                  <a:srgbClr val="E6DEFF"/>
                </a:solidFill>
                <a:latin typeface="Aptos"/>
              </a:defRPr>
            </a:pPr>
            <a:r>
              <a:t>Actual expenses frequently exceed planned budgets.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874519"/>
            <a:ext cx="5349240" cy="1600200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1384" y="2075688"/>
            <a:ext cx="54864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600" b="1">
                <a:solidFill>
                  <a:srgbClr val="8464F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6328" y="2048255"/>
            <a:ext cx="41605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Low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8" y="2496312"/>
            <a:ext cx="4069080" cy="75895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500" b="0">
                <a:solidFill>
                  <a:srgbClr val="E6DEFF"/>
                </a:solidFill>
                <a:latin typeface="Aptos"/>
              </a:defRPr>
            </a:pPr>
            <a:r>
              <a:t>No structured department- or category-wise expense tracking.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94760"/>
            <a:ext cx="5349240" cy="1600200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3995928"/>
            <a:ext cx="54864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600" b="1">
                <a:solidFill>
                  <a:srgbClr val="8464F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968496"/>
            <a:ext cx="41605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Expense accumulation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416552"/>
            <a:ext cx="4069080" cy="75895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500" b="0">
                <a:solidFill>
                  <a:srgbClr val="E6DEFF"/>
                </a:solidFill>
                <a:latin typeface="Aptos"/>
              </a:defRPr>
            </a:pPr>
            <a:r>
              <a:t>Small expenses combine into significant overspending.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3794760"/>
            <a:ext cx="5349240" cy="1600200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01384" y="3995928"/>
            <a:ext cx="54864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600" b="1">
                <a:solidFill>
                  <a:srgbClr val="8464F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8" y="3968496"/>
            <a:ext cx="41605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Unclear drivers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8" y="4416552"/>
            <a:ext cx="4069080" cy="75895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500" b="0">
                <a:solidFill>
                  <a:srgbClr val="E6DEFF"/>
                </a:solidFill>
                <a:latin typeface="Aptos"/>
              </a:defRPr>
            </a:pPr>
            <a:r>
              <a:t>Management cannot easily identify overspending departments, categories, or repeated overruns.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1207" y="758952"/>
            <a:ext cx="11064240" cy="7132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Our Analytical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54480"/>
            <a:ext cx="960120" cy="50292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731520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000" b="1">
                <a:solidFill>
                  <a:srgbClr val="A0ACC3"/>
                </a:solidFill>
                <a:latin typeface="Aptos"/>
              </a:defRPr>
            </a:pPr>
            <a:r>
              <a:t>03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01368"/>
            <a:ext cx="10927080" cy="512064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01368"/>
            <a:ext cx="68580" cy="512064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892807"/>
            <a:ext cx="475488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300" b="1">
                <a:solidFill>
                  <a:srgbClr val="8464F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860804"/>
            <a:ext cx="94183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Budget vs Actual expense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14016"/>
            <a:ext cx="10927080" cy="512064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414016"/>
            <a:ext cx="68580" cy="512064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505456"/>
            <a:ext cx="475488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300" b="1">
                <a:solidFill>
                  <a:srgbClr val="8464F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473452"/>
            <a:ext cx="94183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Department-wise expense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26664"/>
            <a:ext cx="10927080" cy="512064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026664"/>
            <a:ext cx="68580" cy="512064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3118104"/>
            <a:ext cx="475488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300" b="1">
                <a:solidFill>
                  <a:srgbClr val="8464F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086100"/>
            <a:ext cx="94183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Category-wise expense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39312"/>
            <a:ext cx="10927080" cy="512064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639312"/>
            <a:ext cx="68580" cy="512064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3730752"/>
            <a:ext cx="475488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300" b="1">
                <a:solidFill>
                  <a:srgbClr val="8464F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3698748"/>
            <a:ext cx="94183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Year and month-wise expense calculation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51960"/>
            <a:ext cx="10927080" cy="512064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251960"/>
            <a:ext cx="68580" cy="512064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" y="4343400"/>
            <a:ext cx="475488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300" b="1">
                <a:solidFill>
                  <a:srgbClr val="8464F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311396"/>
            <a:ext cx="94183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Identify top overspending departments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864608"/>
            <a:ext cx="10927080" cy="512064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4864608"/>
            <a:ext cx="68580" cy="512064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9536" y="4956048"/>
            <a:ext cx="475488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300" b="1">
                <a:solidFill>
                  <a:srgbClr val="8464F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4924044"/>
            <a:ext cx="94183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Calculate budget variance and variance 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477256"/>
            <a:ext cx="10927080" cy="512064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477256"/>
            <a:ext cx="68580" cy="512064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9536" y="5568696"/>
            <a:ext cx="475488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300" b="1">
                <a:solidFill>
                  <a:srgbClr val="8464F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6192" y="5536692"/>
            <a:ext cx="94183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Measures to reduce unnecessary expenses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1207" y="758952"/>
            <a:ext cx="11064240" cy="7132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01  /  Budget vs Actual Expense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54480"/>
            <a:ext cx="960120" cy="50292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731520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000" b="1">
                <a:solidFill>
                  <a:srgbClr val="A0ACC3"/>
                </a:solidFill>
                <a:latin typeface="Aptos"/>
              </a:defRPr>
            </a:pPr>
            <a:r>
              <a:t>04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847088"/>
            <a:ext cx="3657600" cy="4178808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" y="2157984"/>
            <a:ext cx="310896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1">
                <a:solidFill>
                  <a:srgbClr val="8464F7"/>
                </a:solidFill>
                <a:latin typeface="Aptos"/>
              </a:defRPr>
            </a:pPr>
            <a:r>
              <a:t>WHAT THIS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715768"/>
            <a:ext cx="3081528" cy="2606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Comparing planned budgets against actual spending across departments to reveal financial gaps and overspending.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47088"/>
            <a:ext cx="7196328" cy="4178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10-25 153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392839"/>
            <a:ext cx="6739128" cy="28861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6108192"/>
            <a:ext cx="681228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1200" b="0">
                <a:solidFill>
                  <a:srgbClr val="E6DEFF"/>
                </a:solidFill>
                <a:latin typeface="Aptos"/>
              </a:defRPr>
            </a:pPr>
            <a:r>
              <a:t>BUDGET VS ACTUAL SPEND BY DEPARTMENT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1207" y="758952"/>
            <a:ext cx="11064240" cy="7132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02  /  Department-wise Variance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54480"/>
            <a:ext cx="960120" cy="50292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731520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000" b="1">
                <a:solidFill>
                  <a:srgbClr val="A0ACC3"/>
                </a:solidFill>
                <a:latin typeface="Aptos"/>
              </a:defRPr>
            </a:pPr>
            <a:r>
              <a:t>05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847088"/>
            <a:ext cx="3657600" cy="4178808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" y="2157984"/>
            <a:ext cx="310896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1">
                <a:solidFill>
                  <a:srgbClr val="8464F7"/>
                </a:solidFill>
                <a:latin typeface="Aptos"/>
              </a:defRPr>
            </a:pPr>
            <a:r>
              <a:t>WHAT THIS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715768"/>
            <a:ext cx="3081528" cy="2606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Analyzing Actual − Budget for each department to pinpoint where major expense leakage is occurring.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47088"/>
            <a:ext cx="7196328" cy="4178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10-25 1533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296816"/>
            <a:ext cx="6739128" cy="30781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6108192"/>
            <a:ext cx="681228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1200" b="0">
                <a:solidFill>
                  <a:srgbClr val="E6DEFF"/>
                </a:solidFill>
                <a:latin typeface="Aptos"/>
              </a:defRPr>
            </a:pPr>
            <a:r>
              <a:t>TOTAL VARIANCE BY DEPARTMENT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1207" y="758952"/>
            <a:ext cx="11064240" cy="7132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03  /  Category-wise Variance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54480"/>
            <a:ext cx="960120" cy="50292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731520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000" b="1">
                <a:solidFill>
                  <a:srgbClr val="A0ACC3"/>
                </a:solidFill>
                <a:latin typeface="Aptos"/>
              </a:defRPr>
            </a:pPr>
            <a:r>
              <a:t>06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847088"/>
            <a:ext cx="3657600" cy="4178808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" y="2157984"/>
            <a:ext cx="310896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1">
                <a:solidFill>
                  <a:srgbClr val="8464F7"/>
                </a:solidFill>
                <a:latin typeface="Aptos"/>
              </a:defRPr>
            </a:pPr>
            <a:r>
              <a:t>WHAT THIS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715768"/>
            <a:ext cx="3081528" cy="2606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Breaking down variance by expense category to investigate the sources of overspending and financial outflows.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47088"/>
            <a:ext cx="7196328" cy="4178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10-25 1534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273101"/>
            <a:ext cx="6739127" cy="31256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6108192"/>
            <a:ext cx="681228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1200" b="0">
                <a:solidFill>
                  <a:srgbClr val="E6DEFF"/>
                </a:solidFill>
                <a:latin typeface="Aptos"/>
              </a:defRPr>
            </a:pPr>
            <a:r>
              <a:t>VARIANCE BY EXPENSE CATEGORY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1207" y="758952"/>
            <a:ext cx="11064240" cy="7132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04  /  Monthly &amp; Yearly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54480"/>
            <a:ext cx="960120" cy="50292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731520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000" b="1">
                <a:solidFill>
                  <a:srgbClr val="A0ACC3"/>
                </a:solidFill>
                <a:latin typeface="Aptos"/>
              </a:defRPr>
            </a:pPr>
            <a:r>
              <a:t>07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847088"/>
            <a:ext cx="3657600" cy="4178808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" y="2157984"/>
            <a:ext cx="310896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1">
                <a:solidFill>
                  <a:srgbClr val="8464F7"/>
                </a:solidFill>
                <a:latin typeface="Aptos"/>
              </a:defRPr>
            </a:pPr>
            <a:r>
              <a:t>WHAT THIS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715768"/>
            <a:ext cx="3081528" cy="2606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Tracking variance over months and years to identify peaks, persistent leakage and time-based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47088"/>
            <a:ext cx="7196328" cy="4178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10-25 1534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178616"/>
            <a:ext cx="6739128" cy="33145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6108192"/>
            <a:ext cx="681228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1200" b="0">
                <a:solidFill>
                  <a:srgbClr val="E6DEFF"/>
                </a:solidFill>
                <a:latin typeface="Aptos"/>
              </a:defRPr>
            </a:pPr>
            <a:r>
              <a:t>VARIANCE BY MONTH / YEAR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1207" y="758952"/>
            <a:ext cx="11064240" cy="7132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05  /  Department Spending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54480"/>
            <a:ext cx="960120" cy="50292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731520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000" b="1">
                <a:solidFill>
                  <a:srgbClr val="A0ACC3"/>
                </a:solidFill>
                <a:latin typeface="Aptos"/>
              </a:defRPr>
            </a:pPr>
            <a:r>
              <a:t>08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847088"/>
            <a:ext cx="3657600" cy="4178808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" y="2157984"/>
            <a:ext cx="310896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1">
                <a:solidFill>
                  <a:srgbClr val="8464F7"/>
                </a:solidFill>
                <a:latin typeface="Aptos"/>
              </a:defRPr>
            </a:pPr>
            <a:r>
              <a:t>WHAT THIS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715768"/>
            <a:ext cx="3081528" cy="2606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Comparing total actual spend by department to highlight high-spend areas for closer budget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47088"/>
            <a:ext cx="7196328" cy="4178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10-25 1521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401" y="2112264"/>
            <a:ext cx="5132628" cy="34472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6108192"/>
            <a:ext cx="681228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1200" b="0">
                <a:solidFill>
                  <a:srgbClr val="E6DEFF"/>
                </a:solidFill>
                <a:latin typeface="Aptos"/>
              </a:defRPr>
            </a:pPr>
            <a:r>
              <a:t>SUM OF ACTUAL SPEND BY DEPARTMENT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1207" y="758952"/>
            <a:ext cx="11064240" cy="7132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From Data to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54480"/>
            <a:ext cx="960120" cy="50292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731520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000" b="1">
                <a:solidFill>
                  <a:srgbClr val="A0ACC3"/>
                </a:solidFill>
                <a:latin typeface="Aptos"/>
              </a:defRPr>
            </a:pPr>
            <a:r>
              <a:t>09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38528"/>
            <a:ext cx="3502152" cy="1591056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21408"/>
            <a:ext cx="59436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600" b="1">
                <a:solidFill>
                  <a:srgbClr val="8464F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542032"/>
            <a:ext cx="310896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62656"/>
            <a:ext cx="3108960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400" b="0">
                <a:solidFill>
                  <a:srgbClr val="E6DEFF"/>
                </a:solidFill>
                <a:latin typeface="Aptos"/>
              </a:defRPr>
            </a:pPr>
            <a:r>
              <a:t>Budget vs actual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938528"/>
            <a:ext cx="3502152" cy="1591056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6864" y="2121408"/>
            <a:ext cx="59436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600" b="1">
                <a:solidFill>
                  <a:srgbClr val="8464F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542032"/>
            <a:ext cx="310896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IDENTIFY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962656"/>
            <a:ext cx="3108960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400" b="0">
                <a:solidFill>
                  <a:srgbClr val="E6DEFF"/>
                </a:solidFill>
                <a:latin typeface="Aptos"/>
              </a:defRPr>
            </a:pPr>
            <a:r>
              <a:t>Department variances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57032" y="1938528"/>
            <a:ext cx="3502152" cy="1591056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2121408"/>
            <a:ext cx="59436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600" b="1">
                <a:solidFill>
                  <a:srgbClr val="8464F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542032"/>
            <a:ext cx="310896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DIAGNOSE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962656"/>
            <a:ext cx="3108960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400" b="0">
                <a:solidFill>
                  <a:srgbClr val="E6DEFF"/>
                </a:solidFill>
                <a:latin typeface="Aptos"/>
              </a:defRPr>
            </a:pPr>
            <a:r>
              <a:t>Expense categories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40480"/>
            <a:ext cx="3502152" cy="1591056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4023360"/>
            <a:ext cx="59436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600" b="1">
                <a:solidFill>
                  <a:srgbClr val="8464F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443984"/>
            <a:ext cx="310896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864608"/>
            <a:ext cx="3108960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400" b="0">
                <a:solidFill>
                  <a:srgbClr val="E6DEFF"/>
                </a:solidFill>
                <a:latin typeface="Aptos"/>
              </a:defRPr>
            </a:pPr>
            <a:r>
              <a:t>Monthly / yearly patterns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5696" y="3840480"/>
            <a:ext cx="3502152" cy="1591056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26864" y="4023360"/>
            <a:ext cx="59436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600" b="1">
                <a:solidFill>
                  <a:srgbClr val="8464F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4443984"/>
            <a:ext cx="310896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4864608"/>
            <a:ext cx="3108960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400" b="0">
                <a:solidFill>
                  <a:srgbClr val="E6DEFF"/>
                </a:solidFill>
                <a:latin typeface="Aptos"/>
              </a:defRPr>
            </a:pPr>
            <a:r>
              <a:t>Areas for investigation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2" y="3840480"/>
            <a:ext cx="3502152" cy="1591056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4023360"/>
            <a:ext cx="59436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600" b="1">
                <a:solidFill>
                  <a:srgbClr val="8464F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443984"/>
            <a:ext cx="310896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864608"/>
            <a:ext cx="3108960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400" b="0">
                <a:solidFill>
                  <a:srgbClr val="E6DEFF"/>
                </a:solidFill>
                <a:latin typeface="Aptos"/>
              </a:defRPr>
            </a:pPr>
            <a:r>
              <a:t>Budget and cost controls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1207" y="758952"/>
            <a:ext cx="11064240" cy="7132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Dashboard Overview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54480"/>
            <a:ext cx="960120" cy="50292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731520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000" b="1">
                <a:solidFill>
                  <a:srgbClr val="A0ACC3"/>
                </a:solidFill>
                <a:latin typeface="Aptos"/>
              </a:defRPr>
            </a:pPr>
            <a:r>
              <a:t>10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" y="1810512"/>
            <a:ext cx="3657600" cy="4315968"/>
          </a:xfrm>
          <a:prstGeom prst="roundRect">
            <a:avLst/>
          </a:prstGeom>
          <a:solidFill>
            <a:srgbClr val="1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2048256"/>
            <a:ext cx="310896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8464F7"/>
                </a:solidFill>
                <a:latin typeface="Aptos"/>
              </a:defRPr>
            </a:pPr>
            <a:r>
              <a:t>THE BIG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87752"/>
            <a:ext cx="3136392" cy="28803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The dashboard summarizes expenses by department, category, year and month. It compares planned budgets with actual spending, helping management investigate overspending, reduce unnecessary costs and make more informed financial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10512"/>
            <a:ext cx="7260336" cy="4315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10-25 1532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660" y="1975104"/>
            <a:ext cx="4491822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40680" y="1600200"/>
            <a:ext cx="1280160" cy="64008"/>
          </a:xfrm>
          <a:prstGeom prst="rect">
            <a:avLst/>
          </a:prstGeom>
          <a:solidFill>
            <a:srgbClr val="846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67128"/>
            <a:ext cx="10332720" cy="10972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5100" b="1">
                <a:solidFill>
                  <a:srgbClr val="FFFF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22191"/>
            <a:ext cx="10332720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2400" b="0">
                <a:solidFill>
                  <a:srgbClr val="E6DEFF"/>
                </a:solidFill>
                <a:latin typeface="Aptos"/>
              </a:defRPr>
            </a:pPr>
            <a:r>
              <a:t>Questions &amp;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99632"/>
            <a:ext cx="1033272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1100" b="1">
                <a:solidFill>
                  <a:srgbClr val="A0ACC3"/>
                </a:solidFill>
                <a:latin typeface="Aptos"/>
              </a:defRPr>
            </a:pPr>
            <a:r>
              <a:t>TRACKING MONTHLY EXPENSE LEAKAGE IN A BUSINESS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359</Words>
  <Application>Microsoft Office PowerPoint</Application>
  <PresentationFormat>Widescreen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S0600049</cp:lastModifiedBy>
  <cp:revision>2</cp:revision>
  <dcterms:created xsi:type="dcterms:W3CDTF">2013-01-27T09:14:16Z</dcterms:created>
  <dcterms:modified xsi:type="dcterms:W3CDTF">2026-10-25T11:30:01Z</dcterms:modified>
  <cp:category/>
</cp:coreProperties>
</file>